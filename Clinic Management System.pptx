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DM Serif Display" pitchFamily="2" charset="0"/>
      <p:regular r:id="rId17"/>
      <p:italic r:id="rId18"/>
    </p:embeddedFont>
    <p:embeddedFont>
      <p:font typeface="Open Sauce" panose="020B0604020202020204" charset="0"/>
      <p:regular r:id="rId19"/>
    </p:embeddedFont>
    <p:embeddedFont>
      <p:font typeface="Open Sauce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0BF02F-077B-B6B5-4761-6C585B54E279}" v="1" dt="2026-05-30T15:09:29.6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moud Mohamed Ahmed" userId="S::m.mohamed2423@nu.edu.eg::f3cc7899-6ca4-4cc9-99c9-6cdafa052225" providerId="AD" clId="Web-{150BF02F-077B-B6B5-4761-6C585B54E279}"/>
    <pc:docChg chg="modSld">
      <pc:chgData name="Mahmoud Mohamed Ahmed" userId="S::m.mohamed2423@nu.edu.eg::f3cc7899-6ca4-4cc9-99c9-6cdafa052225" providerId="AD" clId="Web-{150BF02F-077B-B6B5-4761-6C585B54E279}" dt="2026-05-30T15:09:29.687" v="0" actId="14100"/>
      <pc:docMkLst>
        <pc:docMk/>
      </pc:docMkLst>
      <pc:sldChg chg="modSp">
        <pc:chgData name="Mahmoud Mohamed Ahmed" userId="S::m.mohamed2423@nu.edu.eg::f3cc7899-6ca4-4cc9-99c9-6cdafa052225" providerId="AD" clId="Web-{150BF02F-077B-B6B5-4761-6C585B54E279}" dt="2026-05-30T15:09:29.687" v="0" actId="14100"/>
        <pc:sldMkLst>
          <pc:docMk/>
          <pc:sldMk cId="0" sldId="261"/>
        </pc:sldMkLst>
        <pc:spChg chg="mod">
          <ac:chgData name="Mahmoud Mohamed Ahmed" userId="S::m.mohamed2423@nu.edu.eg::f3cc7899-6ca4-4cc9-99c9-6cdafa052225" providerId="AD" clId="Web-{150BF02F-077B-B6B5-4761-6C585B54E279}" dt="2026-05-30T15:09:29.687" v="0" actId="14100"/>
          <ac:spMkLst>
            <pc:docMk/>
            <pc:sldMk cId="0" sldId="261"/>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sv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TextBox 3"/>
          <p:cNvSpPr txBox="1"/>
          <p:nvPr/>
        </p:nvSpPr>
        <p:spPr>
          <a:xfrm>
            <a:off x="5139990" y="1347373"/>
            <a:ext cx="8008021" cy="3571679"/>
          </a:xfrm>
          <a:prstGeom prst="rect">
            <a:avLst/>
          </a:prstGeom>
        </p:spPr>
        <p:txBody>
          <a:bodyPr lIns="0" tIns="0" rIns="0" bIns="0" rtlCol="0" anchor="t">
            <a:spAutoFit/>
          </a:bodyPr>
          <a:lstStyle/>
          <a:p>
            <a:pPr algn="ctr">
              <a:lnSpc>
                <a:spcPts val="9213"/>
              </a:lnSpc>
            </a:pPr>
            <a:r>
              <a:rPr lang="en-US" sz="9597">
                <a:solidFill>
                  <a:srgbClr val="000000"/>
                </a:solidFill>
                <a:latin typeface="DM Serif Display"/>
                <a:ea typeface="DM Serif Display"/>
                <a:cs typeface="DM Serif Display"/>
                <a:sym typeface="DM Serif Display"/>
              </a:rPr>
              <a:t>CLINIC MANAGEMENT</a:t>
            </a:r>
          </a:p>
          <a:p>
            <a:pPr algn="ctr">
              <a:lnSpc>
                <a:spcPts val="9213"/>
              </a:lnSpc>
            </a:pPr>
            <a:r>
              <a:rPr lang="en-US" sz="9597">
                <a:solidFill>
                  <a:srgbClr val="000000"/>
                </a:solidFill>
                <a:latin typeface="DM Serif Display"/>
                <a:ea typeface="DM Serif Display"/>
                <a:cs typeface="DM Serif Display"/>
                <a:sym typeface="DM Serif Display"/>
              </a:rPr>
              <a:t>SYSTEM</a:t>
            </a:r>
          </a:p>
        </p:txBody>
      </p:sp>
      <p:sp>
        <p:nvSpPr>
          <p:cNvPr id="4" name="TextBox 4"/>
          <p:cNvSpPr txBox="1"/>
          <p:nvPr/>
        </p:nvSpPr>
        <p:spPr>
          <a:xfrm>
            <a:off x="6990627" y="5417433"/>
            <a:ext cx="4306746" cy="1243965"/>
          </a:xfrm>
          <a:prstGeom prst="rect">
            <a:avLst/>
          </a:prstGeom>
        </p:spPr>
        <p:txBody>
          <a:bodyPr lIns="0" tIns="0" rIns="0" bIns="0" rtlCol="0" anchor="t">
            <a:spAutoFit/>
          </a:bodyPr>
          <a:lstStyle/>
          <a:p>
            <a:pPr algn="ctr">
              <a:lnSpc>
                <a:spcPts val="3359"/>
              </a:lnSpc>
            </a:pPr>
            <a:r>
              <a:rPr lang="en-US" sz="2400" b="1" u="sng" spc="240">
                <a:solidFill>
                  <a:srgbClr val="000000"/>
                </a:solidFill>
                <a:latin typeface="Open Sauce Bold"/>
                <a:ea typeface="Open Sauce Bold"/>
                <a:cs typeface="Open Sauce Bold"/>
                <a:sym typeface="Open Sauce Bold"/>
              </a:rPr>
              <a:t>SUPERVISORS</a:t>
            </a:r>
          </a:p>
          <a:p>
            <a:pPr algn="ctr">
              <a:lnSpc>
                <a:spcPts val="3359"/>
              </a:lnSpc>
            </a:pPr>
            <a:r>
              <a:rPr lang="en-US" sz="2400" spc="240">
                <a:solidFill>
                  <a:srgbClr val="000000"/>
                </a:solidFill>
                <a:latin typeface="Open Sauce"/>
                <a:ea typeface="Open Sauce"/>
                <a:cs typeface="Open Sauce"/>
                <a:sym typeface="Open Sauce"/>
              </a:rPr>
              <a:t>DR. MOHAMED ELSAYEH</a:t>
            </a:r>
          </a:p>
          <a:p>
            <a:pPr algn="ctr">
              <a:lnSpc>
                <a:spcPts val="3359"/>
              </a:lnSpc>
              <a:spcBef>
                <a:spcPct val="0"/>
              </a:spcBef>
            </a:pPr>
            <a:r>
              <a:rPr lang="en-US" sz="2400" spc="240">
                <a:solidFill>
                  <a:srgbClr val="000000"/>
                </a:solidFill>
                <a:latin typeface="Open Sauce"/>
                <a:ea typeface="Open Sauce"/>
                <a:cs typeface="Open Sauce"/>
                <a:sym typeface="Open Sauce"/>
              </a:rPr>
              <a:t>DR. HABIBA MOHAMED</a:t>
            </a:r>
          </a:p>
        </p:txBody>
      </p:sp>
      <p:sp>
        <p:nvSpPr>
          <p:cNvPr id="5" name="TextBox 5"/>
          <p:cNvSpPr txBox="1"/>
          <p:nvPr/>
        </p:nvSpPr>
        <p:spPr>
          <a:xfrm>
            <a:off x="6990627" y="7433737"/>
            <a:ext cx="4306746" cy="1243965"/>
          </a:xfrm>
          <a:prstGeom prst="rect">
            <a:avLst/>
          </a:prstGeom>
        </p:spPr>
        <p:txBody>
          <a:bodyPr lIns="0" tIns="0" rIns="0" bIns="0" rtlCol="0" anchor="t">
            <a:spAutoFit/>
          </a:bodyPr>
          <a:lstStyle/>
          <a:p>
            <a:pPr algn="ctr">
              <a:lnSpc>
                <a:spcPts val="3359"/>
              </a:lnSpc>
            </a:pPr>
            <a:r>
              <a:rPr lang="en-US" sz="2400" b="1" u="sng" spc="240">
                <a:solidFill>
                  <a:srgbClr val="000000"/>
                </a:solidFill>
                <a:latin typeface="Open Sauce Bold"/>
                <a:ea typeface="Open Sauce Bold"/>
                <a:cs typeface="Open Sauce Bold"/>
                <a:sym typeface="Open Sauce Bold"/>
              </a:rPr>
              <a:t>MADE BY</a:t>
            </a:r>
          </a:p>
          <a:p>
            <a:pPr algn="ctr">
              <a:lnSpc>
                <a:spcPts val="3359"/>
              </a:lnSpc>
            </a:pPr>
            <a:r>
              <a:rPr lang="en-US" sz="2400" spc="240">
                <a:solidFill>
                  <a:srgbClr val="000000"/>
                </a:solidFill>
                <a:latin typeface="Open Sauce"/>
                <a:ea typeface="Open Sauce"/>
                <a:cs typeface="Open Sauce"/>
                <a:sym typeface="Open Sauce"/>
              </a:rPr>
              <a:t>MAHMOUD MOHAMED</a:t>
            </a:r>
          </a:p>
          <a:p>
            <a:pPr algn="ctr">
              <a:lnSpc>
                <a:spcPts val="3359"/>
              </a:lnSpc>
              <a:spcBef>
                <a:spcPct val="0"/>
              </a:spcBef>
            </a:pPr>
            <a:r>
              <a:rPr lang="en-US" sz="2400" spc="240">
                <a:solidFill>
                  <a:srgbClr val="000000"/>
                </a:solidFill>
                <a:latin typeface="Open Sauce"/>
                <a:ea typeface="Open Sauce"/>
                <a:cs typeface="Open Sauce"/>
                <a:sym typeface="Open Sauce"/>
              </a:rPr>
              <a:t>241002523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TextBox 3"/>
          <p:cNvSpPr txBox="1"/>
          <p:nvPr/>
        </p:nvSpPr>
        <p:spPr>
          <a:xfrm>
            <a:off x="1166399" y="1233825"/>
            <a:ext cx="4591116"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Introduction</a:t>
            </a:r>
          </a:p>
        </p:txBody>
      </p:sp>
      <p:sp>
        <p:nvSpPr>
          <p:cNvPr id="4" name="AutoShape 4"/>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5" name="TextBox 5"/>
          <p:cNvSpPr txBox="1"/>
          <p:nvPr/>
        </p:nvSpPr>
        <p:spPr>
          <a:xfrm>
            <a:off x="1569157" y="2868283"/>
            <a:ext cx="14461033" cy="6288405"/>
          </a:xfrm>
          <a:prstGeom prst="rect">
            <a:avLst/>
          </a:prstGeom>
        </p:spPr>
        <p:txBody>
          <a:bodyPr lIns="0" tIns="0" rIns="0" bIns="0" rtlCol="0" anchor="t">
            <a:spAutoFit/>
          </a:bodyPr>
          <a:lstStyle/>
          <a:p>
            <a:pPr marL="518160" lvl="1" indent="-259080" algn="l">
              <a:lnSpc>
                <a:spcPts val="3840"/>
              </a:lnSpc>
              <a:buFont typeface="Arial"/>
              <a:buChar char="•"/>
            </a:pPr>
            <a:r>
              <a:rPr lang="en-US" sz="2400">
                <a:solidFill>
                  <a:srgbClr val="000000"/>
                </a:solidFill>
                <a:latin typeface="Open Sauce"/>
                <a:ea typeface="Open Sauce"/>
                <a:cs typeface="Open Sauce"/>
                <a:sym typeface="Open Sauce"/>
              </a:rPr>
              <a:t>Steps of planning out how to start the work</a:t>
            </a:r>
          </a:p>
          <a:p>
            <a:pPr algn="l">
              <a:lnSpc>
                <a:spcPts val="3840"/>
              </a:lnSpc>
            </a:pPr>
            <a:endParaRPr lang="en-US" sz="2400">
              <a:solidFill>
                <a:srgbClr val="000000"/>
              </a:solidFill>
              <a:latin typeface="Open Sauce"/>
              <a:ea typeface="Open Sauce"/>
              <a:cs typeface="Open Sauce"/>
              <a:sym typeface="Open Sauce"/>
            </a:endParaRPr>
          </a:p>
          <a:p>
            <a:pPr marL="518160" lvl="1" indent="-259080" algn="l">
              <a:lnSpc>
                <a:spcPts val="3840"/>
              </a:lnSpc>
              <a:buFont typeface="Arial"/>
              <a:buChar char="•"/>
            </a:pPr>
            <a:r>
              <a:rPr lang="en-US" sz="2400">
                <a:solidFill>
                  <a:srgbClr val="000000"/>
                </a:solidFill>
                <a:latin typeface="Open Sauce"/>
                <a:ea typeface="Open Sauce"/>
                <a:cs typeface="Open Sauce"/>
                <a:sym typeface="Open Sauce"/>
              </a:rPr>
              <a:t>The conceptual design identifies the primary entities and their relationships within the clinic ecosystem. Entities include Departments, Clinics, Doctors, Patients, and Appointments.  </a:t>
            </a:r>
          </a:p>
          <a:p>
            <a:pPr algn="l">
              <a:lnSpc>
                <a:spcPts val="3840"/>
              </a:lnSpc>
            </a:pPr>
            <a:endParaRPr lang="en-US" sz="2400">
              <a:solidFill>
                <a:srgbClr val="000000"/>
              </a:solidFill>
              <a:latin typeface="Open Sauce"/>
              <a:ea typeface="Open Sauce"/>
              <a:cs typeface="Open Sauce"/>
              <a:sym typeface="Open Sauce"/>
            </a:endParaRPr>
          </a:p>
          <a:p>
            <a:pPr marL="518160" lvl="1" indent="-259080" algn="l">
              <a:lnSpc>
                <a:spcPts val="3840"/>
              </a:lnSpc>
              <a:buFont typeface="Arial"/>
              <a:buChar char="•"/>
            </a:pPr>
            <a:r>
              <a:rPr lang="en-US" sz="2400">
                <a:solidFill>
                  <a:srgbClr val="000000"/>
                </a:solidFill>
                <a:latin typeface="Open Sauce"/>
                <a:ea typeface="Open Sauce"/>
                <a:cs typeface="Open Sauce"/>
                <a:sym typeface="Open Sauce"/>
              </a:rPr>
              <a:t>Then Relational Schema to assign the Foreign Keys</a:t>
            </a:r>
          </a:p>
          <a:p>
            <a:pPr algn="l">
              <a:lnSpc>
                <a:spcPts val="3840"/>
              </a:lnSpc>
            </a:pPr>
            <a:endParaRPr lang="en-US" sz="2400">
              <a:solidFill>
                <a:srgbClr val="000000"/>
              </a:solidFill>
              <a:latin typeface="Open Sauce"/>
              <a:ea typeface="Open Sauce"/>
              <a:cs typeface="Open Sauce"/>
              <a:sym typeface="Open Sauce"/>
            </a:endParaRPr>
          </a:p>
          <a:p>
            <a:pPr marL="518160" lvl="1" indent="-259080" algn="l">
              <a:lnSpc>
                <a:spcPts val="3840"/>
              </a:lnSpc>
              <a:buFont typeface="Arial"/>
              <a:buChar char="•"/>
            </a:pPr>
            <a:r>
              <a:rPr lang="en-US" sz="2400">
                <a:solidFill>
                  <a:srgbClr val="000000"/>
                </a:solidFill>
                <a:latin typeface="Open Sauce"/>
                <a:ea typeface="Open Sauce"/>
                <a:cs typeface="Open Sauce"/>
                <a:sym typeface="Open Sauce"/>
              </a:rPr>
              <a:t>Then ER diagram to plan out the attributes</a:t>
            </a:r>
          </a:p>
          <a:p>
            <a:pPr algn="l">
              <a:lnSpc>
                <a:spcPts val="3840"/>
              </a:lnSpc>
            </a:pPr>
            <a:endParaRPr lang="en-US" sz="2400">
              <a:solidFill>
                <a:srgbClr val="000000"/>
              </a:solidFill>
              <a:latin typeface="Open Sauce"/>
              <a:ea typeface="Open Sauce"/>
              <a:cs typeface="Open Sauce"/>
              <a:sym typeface="Open Sauce"/>
            </a:endParaRPr>
          </a:p>
          <a:p>
            <a:pPr marL="518160" lvl="1" indent="-259080" algn="l">
              <a:lnSpc>
                <a:spcPts val="3840"/>
              </a:lnSpc>
              <a:buFont typeface="Arial"/>
              <a:buChar char="•"/>
            </a:pPr>
            <a:r>
              <a:rPr lang="en-US" sz="2400">
                <a:solidFill>
                  <a:srgbClr val="000000"/>
                </a:solidFill>
                <a:latin typeface="Open Sauce"/>
                <a:ea typeface="Open Sauce"/>
                <a:cs typeface="Open Sauce"/>
                <a:sym typeface="Open Sauce"/>
              </a:rPr>
              <a:t>Then testing</a:t>
            </a:r>
          </a:p>
          <a:p>
            <a:pPr algn="l">
              <a:lnSpc>
                <a:spcPts val="3840"/>
              </a:lnSpc>
            </a:pPr>
            <a:endParaRPr lang="en-US" sz="2400">
              <a:solidFill>
                <a:srgbClr val="000000"/>
              </a:solidFill>
              <a:latin typeface="Open Sauce"/>
              <a:ea typeface="Open Sauce"/>
              <a:cs typeface="Open Sauce"/>
              <a:sym typeface="Open Sauce"/>
            </a:endParaRPr>
          </a:p>
          <a:p>
            <a:pPr marL="518160" lvl="1" indent="-259080" algn="l">
              <a:lnSpc>
                <a:spcPts val="3840"/>
              </a:lnSpc>
              <a:buFont typeface="Arial"/>
              <a:buChar char="•"/>
            </a:pPr>
            <a:r>
              <a:rPr lang="en-US" sz="2400">
                <a:solidFill>
                  <a:srgbClr val="000000"/>
                </a:solidFill>
                <a:latin typeface="Open Sauce"/>
                <a:ea typeface="Open Sauce"/>
                <a:cs typeface="Open Sauce"/>
                <a:sym typeface="Open Sauce"/>
              </a:rPr>
              <a:t>Answering the required questions</a:t>
            </a:r>
          </a:p>
          <a:p>
            <a:pPr algn="l">
              <a:lnSpc>
                <a:spcPts val="3840"/>
              </a:lnSpc>
            </a:pPr>
            <a:endParaRPr lang="en-US" sz="2400">
              <a:solidFill>
                <a:srgbClr val="000000"/>
              </a:solidFill>
              <a:latin typeface="Open Sauce"/>
              <a:ea typeface="Open Sauce"/>
              <a:cs typeface="Open Sauce"/>
              <a:sym typeface="Open Sauc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TextBox 3"/>
          <p:cNvSpPr txBox="1"/>
          <p:nvPr/>
        </p:nvSpPr>
        <p:spPr>
          <a:xfrm>
            <a:off x="1166399" y="1233825"/>
            <a:ext cx="6768041"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Conceptual Design</a:t>
            </a:r>
          </a:p>
        </p:txBody>
      </p:sp>
      <p:sp>
        <p:nvSpPr>
          <p:cNvPr id="4" name="AutoShape 4"/>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5" name="TextBox 5"/>
          <p:cNvSpPr txBox="1"/>
          <p:nvPr/>
        </p:nvSpPr>
        <p:spPr>
          <a:xfrm>
            <a:off x="3407452" y="2526805"/>
            <a:ext cx="11473095" cy="459105"/>
          </a:xfrm>
          <a:prstGeom prst="rect">
            <a:avLst/>
          </a:prstGeom>
        </p:spPr>
        <p:txBody>
          <a:bodyPr lIns="0" tIns="0" rIns="0" bIns="0" rtlCol="0" anchor="t">
            <a:spAutoFit/>
          </a:bodyPr>
          <a:lstStyle/>
          <a:p>
            <a:pPr algn="l">
              <a:lnSpc>
                <a:spcPts val="3840"/>
              </a:lnSpc>
            </a:pPr>
            <a:r>
              <a:rPr lang="en-US" sz="2400" b="1">
                <a:solidFill>
                  <a:srgbClr val="000000"/>
                </a:solidFill>
                <a:latin typeface="Open Sauce Bold"/>
                <a:ea typeface="Open Sauce Bold"/>
                <a:cs typeface="Open Sauce Bold"/>
                <a:sym typeface="Open Sauce Bold"/>
              </a:rPr>
              <a:t>The conceptual design identifies the primary entities and their relationships  </a:t>
            </a:r>
          </a:p>
        </p:txBody>
      </p:sp>
      <p:sp>
        <p:nvSpPr>
          <p:cNvPr id="6" name="TextBox 6"/>
          <p:cNvSpPr txBox="1"/>
          <p:nvPr/>
        </p:nvSpPr>
        <p:spPr>
          <a:xfrm>
            <a:off x="1166399" y="3834390"/>
            <a:ext cx="14717023" cy="4645152"/>
          </a:xfrm>
          <a:prstGeom prst="rect">
            <a:avLst/>
          </a:prstGeom>
        </p:spPr>
        <p:txBody>
          <a:bodyPr lIns="0" tIns="0" rIns="0" bIns="0" rtlCol="0" anchor="t">
            <a:spAutoFit/>
          </a:bodyPr>
          <a:lstStyle/>
          <a:p>
            <a:pPr marL="518160" lvl="1" indent="-259080" algn="l">
              <a:lnSpc>
                <a:spcPts val="3840"/>
              </a:lnSpc>
              <a:buFont typeface="Arial"/>
              <a:buChar char="•"/>
            </a:pPr>
            <a:r>
              <a:rPr lang="en-US" sz="2400" u="none" strike="noStrike">
                <a:solidFill>
                  <a:srgbClr val="000000"/>
                </a:solidFill>
                <a:latin typeface="Open Sauce"/>
                <a:ea typeface="Open Sauce"/>
                <a:cs typeface="Open Sauce"/>
                <a:sym typeface="Open Sauce"/>
              </a:rPr>
              <a:t>Entities include Departments, Clinics, Doctors, Patients, and Appointments.</a:t>
            </a:r>
          </a:p>
          <a:p>
            <a:pPr algn="l">
              <a:lnSpc>
                <a:spcPts val="3840"/>
              </a:lnSpc>
            </a:pPr>
            <a:endParaRPr lang="en-US" sz="2400" u="none" strike="noStrike">
              <a:solidFill>
                <a:srgbClr val="000000"/>
              </a:solidFill>
              <a:latin typeface="Open Sauce"/>
              <a:ea typeface="Open Sauce"/>
              <a:cs typeface="Open Sauce"/>
              <a:sym typeface="Open Sauce"/>
            </a:endParaRPr>
          </a:p>
          <a:p>
            <a:pPr marL="518160" lvl="1" indent="-259080" algn="l">
              <a:lnSpc>
                <a:spcPts val="4967"/>
              </a:lnSpc>
              <a:buAutoNum type="arabicPeriod"/>
            </a:pPr>
            <a:r>
              <a:rPr lang="en-US" sz="2400" b="1" u="sng" strike="noStrike">
                <a:solidFill>
                  <a:srgbClr val="000000"/>
                </a:solidFill>
                <a:latin typeface="Open Sauce Bold"/>
                <a:ea typeface="Open Sauce Bold"/>
                <a:cs typeface="Open Sauce Bold"/>
                <a:sym typeface="Open Sauce Bold"/>
              </a:rPr>
              <a:t>Department</a:t>
            </a:r>
            <a:r>
              <a:rPr lang="en-US" sz="2400" u="none" strike="noStrike">
                <a:solidFill>
                  <a:srgbClr val="000000"/>
                </a:solidFill>
                <a:latin typeface="Open Sauce"/>
                <a:ea typeface="Open Sauce"/>
                <a:cs typeface="Open Sauce"/>
                <a:sym typeface="Open Sauce"/>
              </a:rPr>
              <a:t>: Represents medical divisions such as Cardiology or Neurology. </a:t>
            </a:r>
          </a:p>
          <a:p>
            <a:pPr marL="518160" lvl="1" indent="-259080" algn="l">
              <a:lnSpc>
                <a:spcPts val="4967"/>
              </a:lnSpc>
              <a:buAutoNum type="arabicPeriod"/>
            </a:pPr>
            <a:r>
              <a:rPr lang="en-US" sz="2400" b="1" u="sng" strike="noStrike">
                <a:solidFill>
                  <a:srgbClr val="000000"/>
                </a:solidFill>
                <a:latin typeface="Open Sauce Bold"/>
                <a:ea typeface="Open Sauce Bold"/>
                <a:cs typeface="Open Sauce Bold"/>
                <a:sym typeface="Open Sauce Bold"/>
              </a:rPr>
              <a:t>Clinic:</a:t>
            </a:r>
            <a:r>
              <a:rPr lang="en-US" sz="2400" u="none" strike="noStrike">
                <a:solidFill>
                  <a:srgbClr val="000000"/>
                </a:solidFill>
                <a:latin typeface="Open Sauce"/>
                <a:ea typeface="Open Sauce"/>
                <a:cs typeface="Open Sauce"/>
                <a:sym typeface="Open Sauce"/>
              </a:rPr>
              <a:t> Locations where patients receive treatment, linked to departments. </a:t>
            </a:r>
          </a:p>
          <a:p>
            <a:pPr marL="518160" lvl="1" indent="-259080" algn="l">
              <a:lnSpc>
                <a:spcPts val="4967"/>
              </a:lnSpc>
              <a:buAutoNum type="arabicPeriod"/>
            </a:pPr>
            <a:r>
              <a:rPr lang="en-US" sz="2400" b="1" u="sng" strike="noStrike">
                <a:solidFill>
                  <a:srgbClr val="000000"/>
                </a:solidFill>
                <a:latin typeface="Open Sauce Bold"/>
                <a:ea typeface="Open Sauce Bold"/>
                <a:cs typeface="Open Sauce Bold"/>
                <a:sym typeface="Open Sauce Bold"/>
              </a:rPr>
              <a:t>Doctor:</a:t>
            </a:r>
            <a:r>
              <a:rPr lang="en-US" sz="2400" u="none" strike="noStrike">
                <a:solidFill>
                  <a:srgbClr val="000000"/>
                </a:solidFill>
                <a:latin typeface="Open Sauce"/>
                <a:ea typeface="Open Sauce"/>
                <a:cs typeface="Open Sauce"/>
                <a:sym typeface="Open Sauce"/>
              </a:rPr>
              <a:t> Medical professionals assigned to specific departments. </a:t>
            </a:r>
          </a:p>
          <a:p>
            <a:pPr marL="518160" lvl="1" indent="-259080" algn="l">
              <a:lnSpc>
                <a:spcPts val="4967"/>
              </a:lnSpc>
              <a:buAutoNum type="arabicPeriod"/>
            </a:pPr>
            <a:r>
              <a:rPr lang="en-US" sz="2400" b="1" u="sng" strike="noStrike">
                <a:solidFill>
                  <a:srgbClr val="000000"/>
                </a:solidFill>
                <a:latin typeface="Open Sauce Bold"/>
                <a:ea typeface="Open Sauce Bold"/>
                <a:cs typeface="Open Sauce Bold"/>
                <a:sym typeface="Open Sauce Bold"/>
              </a:rPr>
              <a:t>Patient:</a:t>
            </a:r>
            <a:r>
              <a:rPr lang="en-US" sz="2400" u="none" strike="noStrike">
                <a:solidFill>
                  <a:srgbClr val="000000"/>
                </a:solidFill>
                <a:latin typeface="Open Sauce"/>
                <a:ea typeface="Open Sauce"/>
                <a:cs typeface="Open Sauce"/>
                <a:sym typeface="Open Sauce"/>
              </a:rPr>
              <a:t> Individuals seeking medical services, with records of their demographics and jobs. </a:t>
            </a:r>
          </a:p>
          <a:p>
            <a:pPr marL="518160" lvl="1" indent="-259080" algn="l">
              <a:lnSpc>
                <a:spcPts val="4967"/>
              </a:lnSpc>
              <a:buAutoNum type="arabicPeriod"/>
            </a:pPr>
            <a:r>
              <a:rPr lang="en-US" sz="2400" b="1" u="sng" strike="noStrike">
                <a:solidFill>
                  <a:srgbClr val="000000"/>
                </a:solidFill>
                <a:latin typeface="Open Sauce Bold"/>
                <a:ea typeface="Open Sauce Bold"/>
                <a:cs typeface="Open Sauce Bold"/>
                <a:sym typeface="Open Sauce Bold"/>
              </a:rPr>
              <a:t>Appointment: </a:t>
            </a:r>
            <a:r>
              <a:rPr lang="en-US" sz="2400" u="none" strike="noStrike">
                <a:solidFill>
                  <a:srgbClr val="000000"/>
                </a:solidFill>
                <a:latin typeface="Open Sauce"/>
                <a:ea typeface="Open Sauce"/>
                <a:cs typeface="Open Sauce"/>
                <a:sym typeface="Open Sauce"/>
              </a:rPr>
              <a:t>The central transaction linking patients, doctors, and clinics, including dates, costs, and diagnosis.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TextBox 3"/>
          <p:cNvSpPr txBox="1"/>
          <p:nvPr/>
        </p:nvSpPr>
        <p:spPr>
          <a:xfrm>
            <a:off x="1166399" y="1233825"/>
            <a:ext cx="6768041"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Conceptual Design</a:t>
            </a:r>
          </a:p>
        </p:txBody>
      </p:sp>
      <p:sp>
        <p:nvSpPr>
          <p:cNvPr id="4" name="AutoShape 4"/>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5" name="TextBox 5"/>
          <p:cNvSpPr txBox="1"/>
          <p:nvPr/>
        </p:nvSpPr>
        <p:spPr>
          <a:xfrm>
            <a:off x="3407452" y="2526805"/>
            <a:ext cx="11473095" cy="459105"/>
          </a:xfrm>
          <a:prstGeom prst="rect">
            <a:avLst/>
          </a:prstGeom>
        </p:spPr>
        <p:txBody>
          <a:bodyPr lIns="0" tIns="0" rIns="0" bIns="0" rtlCol="0" anchor="t">
            <a:spAutoFit/>
          </a:bodyPr>
          <a:lstStyle/>
          <a:p>
            <a:pPr algn="l">
              <a:lnSpc>
                <a:spcPts val="3840"/>
              </a:lnSpc>
            </a:pPr>
            <a:r>
              <a:rPr lang="en-US" sz="2400" b="1">
                <a:solidFill>
                  <a:srgbClr val="000000"/>
                </a:solidFill>
                <a:latin typeface="Open Sauce Bold"/>
                <a:ea typeface="Open Sauce Bold"/>
                <a:cs typeface="Open Sauce Bold"/>
                <a:sym typeface="Open Sauce Bold"/>
              </a:rPr>
              <a:t>The conceptual design identifies the primary entities and their relationships  </a:t>
            </a:r>
          </a:p>
        </p:txBody>
      </p:sp>
      <p:sp>
        <p:nvSpPr>
          <p:cNvPr id="6" name="TextBox 6"/>
          <p:cNvSpPr txBox="1"/>
          <p:nvPr/>
        </p:nvSpPr>
        <p:spPr>
          <a:xfrm>
            <a:off x="1166399" y="3834390"/>
            <a:ext cx="14717023" cy="4187190"/>
          </a:xfrm>
          <a:prstGeom prst="rect">
            <a:avLst/>
          </a:prstGeom>
        </p:spPr>
        <p:txBody>
          <a:bodyPr lIns="0" tIns="0" rIns="0" bIns="0" rtlCol="0" anchor="t">
            <a:spAutoFit/>
          </a:bodyPr>
          <a:lstStyle/>
          <a:p>
            <a:pPr marL="518160" lvl="1" indent="-259080" algn="l">
              <a:lnSpc>
                <a:spcPts val="3840"/>
              </a:lnSpc>
              <a:buFont typeface="Arial"/>
              <a:buChar char="•"/>
            </a:pPr>
            <a:r>
              <a:rPr lang="en-US" sz="2400">
                <a:solidFill>
                  <a:srgbClr val="000000"/>
                </a:solidFill>
                <a:latin typeface="Open Sauce"/>
                <a:ea typeface="Open Sauce"/>
                <a:cs typeface="Open Sauce"/>
                <a:sym typeface="Open Sauce"/>
              </a:rPr>
              <a:t>Assigning A</a:t>
            </a:r>
            <a:r>
              <a:rPr lang="en-US" sz="2400" u="none" strike="noStrike">
                <a:solidFill>
                  <a:srgbClr val="000000"/>
                </a:solidFill>
                <a:latin typeface="Open Sauce"/>
                <a:ea typeface="Open Sauce"/>
                <a:cs typeface="Open Sauce"/>
                <a:sym typeface="Open Sauce"/>
              </a:rPr>
              <a:t>ttributes for Each Entity</a:t>
            </a:r>
          </a:p>
          <a:p>
            <a:pPr algn="l">
              <a:lnSpc>
                <a:spcPts val="3840"/>
              </a:lnSpc>
            </a:pPr>
            <a:endParaRPr lang="en-US" sz="2400" u="none" strike="noStrike">
              <a:solidFill>
                <a:srgbClr val="000000"/>
              </a:solidFill>
              <a:latin typeface="Open Sauce"/>
              <a:ea typeface="Open Sauce"/>
              <a:cs typeface="Open Sauce"/>
              <a:sym typeface="Open Sauce"/>
            </a:endParaRPr>
          </a:p>
          <a:p>
            <a:pPr marL="518160" lvl="1" indent="-259080" algn="l">
              <a:lnSpc>
                <a:spcPts val="5280"/>
              </a:lnSpc>
              <a:buFont typeface="Arial"/>
              <a:buChar char="•"/>
            </a:pPr>
            <a:r>
              <a:rPr lang="en-US" sz="2400" b="1" u="sng" strike="noStrike">
                <a:solidFill>
                  <a:srgbClr val="000000"/>
                </a:solidFill>
                <a:latin typeface="Open Sauce Bold"/>
                <a:ea typeface="Open Sauce Bold"/>
                <a:cs typeface="Open Sauce Bold"/>
                <a:sym typeface="Open Sauce Bold"/>
              </a:rPr>
              <a:t>Department:</a:t>
            </a:r>
            <a:r>
              <a:rPr lang="en-US" sz="2400" b="1" u="none" strike="noStrike">
                <a:solidFill>
                  <a:srgbClr val="000000"/>
                </a:solidFill>
                <a:latin typeface="Open Sauce Bold"/>
                <a:ea typeface="Open Sauce Bold"/>
                <a:cs typeface="Open Sauce Bold"/>
                <a:sym typeface="Open Sauce Bold"/>
              </a:rPr>
              <a:t> </a:t>
            </a:r>
            <a:r>
              <a:rPr lang="en-US" sz="2400" u="none" strike="noStrike">
                <a:solidFill>
                  <a:srgbClr val="000000"/>
                </a:solidFill>
                <a:latin typeface="Open Sauce"/>
                <a:ea typeface="Open Sauce"/>
                <a:cs typeface="Open Sauce"/>
                <a:sym typeface="Open Sauce"/>
              </a:rPr>
              <a:t>DepartmentID, Name </a:t>
            </a:r>
          </a:p>
          <a:p>
            <a:pPr marL="518160" lvl="1" indent="-259080" algn="l">
              <a:lnSpc>
                <a:spcPts val="5280"/>
              </a:lnSpc>
              <a:buFont typeface="Arial"/>
              <a:buChar char="•"/>
            </a:pPr>
            <a:r>
              <a:rPr lang="en-US" sz="2400" b="1" u="sng" strike="noStrike">
                <a:solidFill>
                  <a:srgbClr val="000000"/>
                </a:solidFill>
                <a:latin typeface="Open Sauce Bold"/>
                <a:ea typeface="Open Sauce Bold"/>
                <a:cs typeface="Open Sauce Bold"/>
                <a:sym typeface="Open Sauce Bold"/>
              </a:rPr>
              <a:t>Clinic: </a:t>
            </a:r>
            <a:r>
              <a:rPr lang="en-US" sz="2400" strike="noStrike">
                <a:solidFill>
                  <a:srgbClr val="000000"/>
                </a:solidFill>
                <a:latin typeface="Open Sauce"/>
                <a:ea typeface="Open Sauce"/>
                <a:cs typeface="Open Sauce"/>
                <a:sym typeface="Open Sauce"/>
              </a:rPr>
              <a:t>Cl</a:t>
            </a:r>
            <a:r>
              <a:rPr lang="en-US" sz="2400" u="none" strike="noStrike">
                <a:solidFill>
                  <a:srgbClr val="000000"/>
                </a:solidFill>
                <a:latin typeface="Open Sauce"/>
                <a:ea typeface="Open Sauce"/>
                <a:cs typeface="Open Sauce"/>
                <a:sym typeface="Open Sauce"/>
              </a:rPr>
              <a:t>inicID, Name, Address </a:t>
            </a:r>
          </a:p>
          <a:p>
            <a:pPr marL="518160" lvl="1" indent="-259080" algn="l">
              <a:lnSpc>
                <a:spcPts val="5280"/>
              </a:lnSpc>
              <a:buFont typeface="Arial"/>
              <a:buChar char="•"/>
            </a:pPr>
            <a:r>
              <a:rPr lang="en-US" sz="2400" b="1" u="sng" strike="noStrike">
                <a:solidFill>
                  <a:srgbClr val="000000"/>
                </a:solidFill>
                <a:latin typeface="Open Sauce Bold"/>
                <a:ea typeface="Open Sauce Bold"/>
                <a:cs typeface="Open Sauce Bold"/>
                <a:sym typeface="Open Sauce Bold"/>
              </a:rPr>
              <a:t>Doctor:</a:t>
            </a:r>
            <a:r>
              <a:rPr lang="en-US" sz="2400" strike="noStrike">
                <a:solidFill>
                  <a:srgbClr val="000000"/>
                </a:solidFill>
                <a:latin typeface="Open Sauce"/>
                <a:ea typeface="Open Sauce"/>
                <a:cs typeface="Open Sauce"/>
                <a:sym typeface="Open Sauce"/>
              </a:rPr>
              <a:t> D</a:t>
            </a:r>
            <a:r>
              <a:rPr lang="en-US" sz="2400" u="none" strike="noStrike">
                <a:solidFill>
                  <a:srgbClr val="000000"/>
                </a:solidFill>
                <a:latin typeface="Open Sauce"/>
                <a:ea typeface="Open Sauce"/>
                <a:cs typeface="Open Sauce"/>
                <a:sym typeface="Open Sauce"/>
              </a:rPr>
              <a:t>octorID, Name, PhoneNumber, Address </a:t>
            </a:r>
          </a:p>
          <a:p>
            <a:pPr marL="518160" lvl="1" indent="-259080" algn="l">
              <a:lnSpc>
                <a:spcPts val="5280"/>
              </a:lnSpc>
              <a:buFont typeface="Arial"/>
              <a:buChar char="•"/>
            </a:pPr>
            <a:r>
              <a:rPr lang="en-US" sz="2400" b="1" u="sng" strike="noStrike">
                <a:solidFill>
                  <a:srgbClr val="000000"/>
                </a:solidFill>
                <a:latin typeface="Open Sauce Bold"/>
                <a:ea typeface="Open Sauce Bold"/>
                <a:cs typeface="Open Sauce Bold"/>
                <a:sym typeface="Open Sauce Bold"/>
              </a:rPr>
              <a:t>Patient: </a:t>
            </a:r>
            <a:r>
              <a:rPr lang="en-US" sz="2400" u="none" strike="noStrike">
                <a:solidFill>
                  <a:srgbClr val="000000"/>
                </a:solidFill>
                <a:latin typeface="Open Sauce"/>
                <a:ea typeface="Open Sauce"/>
                <a:cs typeface="Open Sauce"/>
                <a:sym typeface="Open Sauce"/>
              </a:rPr>
              <a:t>Patient</a:t>
            </a:r>
            <a:r>
              <a:rPr lang="en-US" sz="2400" strike="noStrike">
                <a:solidFill>
                  <a:srgbClr val="000000"/>
                </a:solidFill>
                <a:latin typeface="Open Sauce"/>
                <a:ea typeface="Open Sauce"/>
                <a:cs typeface="Open Sauce"/>
                <a:sym typeface="Open Sauce"/>
              </a:rPr>
              <a:t>ID,</a:t>
            </a:r>
            <a:r>
              <a:rPr lang="en-US" sz="2400" u="none" strike="noStrike">
                <a:solidFill>
                  <a:srgbClr val="000000"/>
                </a:solidFill>
                <a:latin typeface="Open Sauce"/>
                <a:ea typeface="Open Sauce"/>
                <a:cs typeface="Open Sauce"/>
                <a:sym typeface="Open Sauce"/>
              </a:rPr>
              <a:t> Name, PhoneNumber, Address, BirthDate, Job </a:t>
            </a:r>
          </a:p>
          <a:p>
            <a:pPr marL="518160" lvl="1" indent="-259080" algn="l">
              <a:lnSpc>
                <a:spcPts val="5280"/>
              </a:lnSpc>
              <a:buFont typeface="Arial"/>
              <a:buChar char="•"/>
            </a:pPr>
            <a:r>
              <a:rPr lang="en-US" sz="2400" b="1" u="sng" strike="noStrike">
                <a:solidFill>
                  <a:srgbClr val="000000"/>
                </a:solidFill>
                <a:latin typeface="Open Sauce Bold"/>
                <a:ea typeface="Open Sauce Bold"/>
                <a:cs typeface="Open Sauce Bold"/>
                <a:sym typeface="Open Sauce Bold"/>
              </a:rPr>
              <a:t>Appointment: </a:t>
            </a:r>
            <a:r>
              <a:rPr lang="en-US" sz="2400" strike="noStrike">
                <a:solidFill>
                  <a:srgbClr val="000000"/>
                </a:solidFill>
                <a:latin typeface="Open Sauce"/>
                <a:ea typeface="Open Sauce"/>
                <a:cs typeface="Open Sauce"/>
                <a:sym typeface="Open Sauce"/>
              </a:rPr>
              <a:t>App</a:t>
            </a:r>
            <a:r>
              <a:rPr lang="en-US" sz="2400" u="none" strike="noStrike">
                <a:solidFill>
                  <a:srgbClr val="000000"/>
                </a:solidFill>
                <a:latin typeface="Open Sauce"/>
                <a:ea typeface="Open Sauce"/>
                <a:cs typeface="Open Sauce"/>
                <a:sym typeface="Open Sauce"/>
              </a:rPr>
              <a:t>ointmentID, Date, StartTime, EndTime, Cost, Status, Diagnosis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Freeform 4"/>
          <p:cNvSpPr/>
          <p:nvPr/>
        </p:nvSpPr>
        <p:spPr>
          <a:xfrm>
            <a:off x="3097095" y="2319040"/>
            <a:ext cx="12945313" cy="7477149"/>
          </a:xfrm>
          <a:custGeom>
            <a:avLst/>
            <a:gdLst/>
            <a:ahLst/>
            <a:cxnLst/>
            <a:rect l="l" t="t" r="r" b="b"/>
            <a:pathLst>
              <a:path w="12945313" h="7477149">
                <a:moveTo>
                  <a:pt x="0" y="0"/>
                </a:moveTo>
                <a:lnTo>
                  <a:pt x="12945313" y="0"/>
                </a:lnTo>
                <a:lnTo>
                  <a:pt x="12945313" y="7477149"/>
                </a:lnTo>
                <a:lnTo>
                  <a:pt x="0" y="7477149"/>
                </a:lnTo>
                <a:lnTo>
                  <a:pt x="0" y="0"/>
                </a:lnTo>
                <a:close/>
              </a:path>
            </a:pathLst>
          </a:custGeom>
          <a:blipFill>
            <a:blip r:embed="rId3"/>
            <a:stretch>
              <a:fillRect/>
            </a:stretch>
          </a:blipFill>
        </p:spPr>
      </p:sp>
      <p:sp>
        <p:nvSpPr>
          <p:cNvPr id="5" name="TextBox 5"/>
          <p:cNvSpPr txBox="1"/>
          <p:nvPr/>
        </p:nvSpPr>
        <p:spPr>
          <a:xfrm>
            <a:off x="1166399" y="1233825"/>
            <a:ext cx="6768041"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Conceptual Design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TextBox 4"/>
          <p:cNvSpPr txBox="1"/>
          <p:nvPr/>
        </p:nvSpPr>
        <p:spPr>
          <a:xfrm>
            <a:off x="1166399" y="1233825"/>
            <a:ext cx="17121601"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Relational Schema</a:t>
            </a:r>
          </a:p>
        </p:txBody>
      </p:sp>
      <p:sp>
        <p:nvSpPr>
          <p:cNvPr id="5" name="TextBox 5"/>
          <p:cNvSpPr txBox="1"/>
          <p:nvPr/>
        </p:nvSpPr>
        <p:spPr>
          <a:xfrm>
            <a:off x="4573609" y="2314276"/>
            <a:ext cx="9753104" cy="647870"/>
          </a:xfrm>
          <a:prstGeom prst="rect">
            <a:avLst/>
          </a:prstGeom>
        </p:spPr>
        <p:txBody>
          <a:bodyPr wrap="square" lIns="0" tIns="0" rIns="0" bIns="0" rtlCol="0" anchor="t">
            <a:spAutoFit/>
          </a:bodyPr>
          <a:lstStyle/>
          <a:p>
            <a:pPr algn="l">
              <a:lnSpc>
                <a:spcPts val="6000"/>
              </a:lnSpc>
            </a:pPr>
            <a:r>
              <a:rPr lang="en-US" sz="2400" b="1">
                <a:solidFill>
                  <a:srgbClr val="000000"/>
                </a:solidFill>
                <a:latin typeface="Open Sauce Bold"/>
                <a:ea typeface="Open Sauce Bold"/>
                <a:cs typeface="Open Sauce Bold"/>
                <a:sym typeface="Open Sauce Bold"/>
              </a:rPr>
              <a:t>To get ready for the ER Diagram and assigning the PK and FK</a:t>
            </a:r>
          </a:p>
        </p:txBody>
      </p:sp>
      <p:sp>
        <p:nvSpPr>
          <p:cNvPr id="6" name="TextBox 6"/>
          <p:cNvSpPr txBox="1"/>
          <p:nvPr/>
        </p:nvSpPr>
        <p:spPr>
          <a:xfrm>
            <a:off x="1028700" y="3999745"/>
            <a:ext cx="16524014" cy="4480560"/>
          </a:xfrm>
          <a:prstGeom prst="rect">
            <a:avLst/>
          </a:prstGeom>
        </p:spPr>
        <p:txBody>
          <a:bodyPr lIns="0" tIns="0" rIns="0" bIns="0" rtlCol="0" anchor="t">
            <a:spAutoFit/>
          </a:bodyPr>
          <a:lstStyle/>
          <a:p>
            <a:pPr marL="518160" lvl="1" indent="-259080" algn="l">
              <a:lnSpc>
                <a:spcPts val="6000"/>
              </a:lnSpc>
              <a:buFont typeface="Arial"/>
              <a:buChar char="•"/>
            </a:pPr>
            <a:r>
              <a:rPr lang="en-US" sz="2400" b="1" u="sng" strike="noStrike">
                <a:solidFill>
                  <a:srgbClr val="000000"/>
                </a:solidFill>
                <a:latin typeface="Open Sauce Bold"/>
                <a:ea typeface="Open Sauce Bold"/>
                <a:cs typeface="Open Sauce Bold"/>
                <a:sym typeface="Open Sauce Bold"/>
              </a:rPr>
              <a:t>Department:</a:t>
            </a:r>
            <a:r>
              <a:rPr lang="en-US" sz="2400" u="none" strike="noStrike">
                <a:solidFill>
                  <a:srgbClr val="000000"/>
                </a:solidFill>
                <a:latin typeface="Open Sauce"/>
                <a:ea typeface="Open Sauce"/>
                <a:cs typeface="Open Sauce"/>
                <a:sym typeface="Open Sauce"/>
              </a:rPr>
              <a:t> DepartmentID (PK), Name </a:t>
            </a:r>
          </a:p>
          <a:p>
            <a:pPr marL="518160" lvl="1" indent="-259080" algn="l">
              <a:lnSpc>
                <a:spcPts val="6000"/>
              </a:lnSpc>
              <a:buFont typeface="Arial"/>
              <a:buChar char="•"/>
            </a:pPr>
            <a:r>
              <a:rPr lang="en-US" sz="2400" b="1" u="sng" strike="noStrike">
                <a:solidFill>
                  <a:srgbClr val="000000"/>
                </a:solidFill>
                <a:latin typeface="Open Sauce Bold"/>
                <a:ea typeface="Open Sauce Bold"/>
                <a:cs typeface="Open Sauce Bold"/>
                <a:sym typeface="Open Sauce Bold"/>
              </a:rPr>
              <a:t>Clinic:</a:t>
            </a:r>
            <a:r>
              <a:rPr lang="en-US" sz="2400" u="none" strike="noStrike">
                <a:solidFill>
                  <a:srgbClr val="000000"/>
                </a:solidFill>
                <a:latin typeface="Open Sauce"/>
                <a:ea typeface="Open Sauce"/>
                <a:cs typeface="Open Sauce"/>
                <a:sym typeface="Open Sauce"/>
              </a:rPr>
              <a:t> ClinicID (PK), Name, Address, DepartmentID (FK) </a:t>
            </a:r>
          </a:p>
          <a:p>
            <a:pPr marL="518160" lvl="1" indent="-259080" algn="l">
              <a:lnSpc>
                <a:spcPts val="6000"/>
              </a:lnSpc>
              <a:buFont typeface="Arial"/>
              <a:buChar char="•"/>
            </a:pPr>
            <a:r>
              <a:rPr lang="en-US" sz="2400" b="1" u="sng" strike="noStrike">
                <a:solidFill>
                  <a:srgbClr val="000000"/>
                </a:solidFill>
                <a:latin typeface="Open Sauce Bold"/>
                <a:ea typeface="Open Sauce Bold"/>
                <a:cs typeface="Open Sauce Bold"/>
                <a:sym typeface="Open Sauce Bold"/>
              </a:rPr>
              <a:t>Doctor:</a:t>
            </a:r>
            <a:r>
              <a:rPr lang="en-US" sz="2400" u="none" strike="noStrike">
                <a:solidFill>
                  <a:srgbClr val="000000"/>
                </a:solidFill>
                <a:latin typeface="Open Sauce"/>
                <a:ea typeface="Open Sauce"/>
                <a:cs typeface="Open Sauce"/>
                <a:sym typeface="Open Sauce"/>
              </a:rPr>
              <a:t> DoctorID (PK), Name, PhoneNumber, Address, DepartmentID (FK) </a:t>
            </a:r>
          </a:p>
          <a:p>
            <a:pPr marL="518160" lvl="1" indent="-259080" algn="l">
              <a:lnSpc>
                <a:spcPts val="6000"/>
              </a:lnSpc>
              <a:buFont typeface="Arial"/>
              <a:buChar char="•"/>
            </a:pPr>
            <a:r>
              <a:rPr lang="en-US" sz="2400" b="1" u="sng" strike="noStrike">
                <a:solidFill>
                  <a:srgbClr val="000000"/>
                </a:solidFill>
                <a:latin typeface="Open Sauce Bold"/>
                <a:ea typeface="Open Sauce Bold"/>
                <a:cs typeface="Open Sauce Bold"/>
                <a:sym typeface="Open Sauce Bold"/>
              </a:rPr>
              <a:t>Patient:</a:t>
            </a:r>
            <a:r>
              <a:rPr lang="en-US" sz="2400" u="none" strike="noStrike">
                <a:solidFill>
                  <a:srgbClr val="000000"/>
                </a:solidFill>
                <a:latin typeface="Open Sauce"/>
                <a:ea typeface="Open Sauce"/>
                <a:cs typeface="Open Sauce"/>
                <a:sym typeface="Open Sauce"/>
              </a:rPr>
              <a:t> PatientID(PK), Name, PhoneNumber, Address, BirthDate, Job </a:t>
            </a:r>
          </a:p>
          <a:p>
            <a:pPr marL="518160" lvl="1" indent="-259080" algn="l">
              <a:lnSpc>
                <a:spcPts val="6000"/>
              </a:lnSpc>
              <a:buFont typeface="Arial"/>
              <a:buChar char="•"/>
            </a:pPr>
            <a:r>
              <a:rPr lang="en-US" sz="2400" b="1" u="sng" strike="noStrike">
                <a:solidFill>
                  <a:srgbClr val="000000"/>
                </a:solidFill>
                <a:latin typeface="Open Sauce Bold"/>
                <a:ea typeface="Open Sauce Bold"/>
                <a:cs typeface="Open Sauce Bold"/>
                <a:sym typeface="Open Sauce Bold"/>
              </a:rPr>
              <a:t>Appointment:</a:t>
            </a:r>
            <a:r>
              <a:rPr lang="en-US" sz="2400" b="1" u="none" strike="noStrike">
                <a:solidFill>
                  <a:srgbClr val="000000"/>
                </a:solidFill>
                <a:latin typeface="Open Sauce Bold"/>
                <a:ea typeface="Open Sauce Bold"/>
                <a:cs typeface="Open Sauce Bold"/>
                <a:sym typeface="Open Sauce Bold"/>
              </a:rPr>
              <a:t> </a:t>
            </a:r>
            <a:r>
              <a:rPr lang="en-US" sz="2400" u="none" strike="noStrike">
                <a:solidFill>
                  <a:srgbClr val="000000"/>
                </a:solidFill>
                <a:latin typeface="Open Sauce"/>
                <a:ea typeface="Open Sauce"/>
                <a:cs typeface="Open Sauce"/>
                <a:sym typeface="Open Sauce"/>
              </a:rPr>
              <a:t>AppointmentID (PK), Date, StartTime, EndTime, Cost, Status, Diagnosis, PatientID (FK), DoctorID (FK)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Freeform 4"/>
          <p:cNvSpPr/>
          <p:nvPr/>
        </p:nvSpPr>
        <p:spPr>
          <a:xfrm>
            <a:off x="3493371" y="3664435"/>
            <a:ext cx="11301259" cy="6116806"/>
          </a:xfrm>
          <a:custGeom>
            <a:avLst/>
            <a:gdLst/>
            <a:ahLst/>
            <a:cxnLst/>
            <a:rect l="l" t="t" r="r" b="b"/>
            <a:pathLst>
              <a:path w="11301259" h="6116806">
                <a:moveTo>
                  <a:pt x="0" y="0"/>
                </a:moveTo>
                <a:lnTo>
                  <a:pt x="11301258" y="0"/>
                </a:lnTo>
                <a:lnTo>
                  <a:pt x="11301258" y="6116807"/>
                </a:lnTo>
                <a:lnTo>
                  <a:pt x="0" y="6116807"/>
                </a:lnTo>
                <a:lnTo>
                  <a:pt x="0" y="0"/>
                </a:lnTo>
                <a:close/>
              </a:path>
            </a:pathLst>
          </a:custGeom>
          <a:blipFill>
            <a:blip r:embed="rId3"/>
            <a:stretch>
              <a:fillRect/>
            </a:stretch>
          </a:blipFill>
        </p:spPr>
      </p:sp>
      <p:sp>
        <p:nvSpPr>
          <p:cNvPr id="5" name="TextBox 5"/>
          <p:cNvSpPr txBox="1"/>
          <p:nvPr/>
        </p:nvSpPr>
        <p:spPr>
          <a:xfrm>
            <a:off x="1166399" y="1233825"/>
            <a:ext cx="4505746"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ER Diagram</a:t>
            </a:r>
          </a:p>
        </p:txBody>
      </p:sp>
      <p:sp>
        <p:nvSpPr>
          <p:cNvPr id="6" name="TextBox 6"/>
          <p:cNvSpPr txBox="1"/>
          <p:nvPr/>
        </p:nvSpPr>
        <p:spPr>
          <a:xfrm>
            <a:off x="1028700" y="2014240"/>
            <a:ext cx="16111394" cy="1432560"/>
          </a:xfrm>
          <a:prstGeom prst="rect">
            <a:avLst/>
          </a:prstGeom>
        </p:spPr>
        <p:txBody>
          <a:bodyPr lIns="0" tIns="0" rIns="0" bIns="0" rtlCol="0" anchor="t">
            <a:spAutoFit/>
          </a:bodyPr>
          <a:lstStyle/>
          <a:p>
            <a:pPr marL="518160" lvl="1" indent="-259080" algn="l">
              <a:lnSpc>
                <a:spcPts val="6000"/>
              </a:lnSpc>
              <a:buFont typeface="Arial"/>
              <a:buChar char="•"/>
            </a:pPr>
            <a:r>
              <a:rPr lang="en-US" sz="2400">
                <a:solidFill>
                  <a:srgbClr val="000000"/>
                </a:solidFill>
                <a:latin typeface="Open Sauce"/>
                <a:ea typeface="Open Sauce"/>
                <a:cs typeface="Open Sauce"/>
                <a:sym typeface="Open Sauce"/>
              </a:rPr>
              <a:t>The ER Diag</a:t>
            </a:r>
            <a:r>
              <a:rPr lang="en-US" sz="2400" u="none" strike="noStrike">
                <a:solidFill>
                  <a:srgbClr val="000000"/>
                </a:solidFill>
                <a:latin typeface="Open Sauce"/>
                <a:ea typeface="Open Sauce"/>
                <a:cs typeface="Open Sauce"/>
                <a:sym typeface="Open Sauce"/>
              </a:rPr>
              <a:t>ram i</a:t>
            </a:r>
            <a:r>
              <a:rPr lang="en-US" sz="2400" strike="noStrike">
                <a:solidFill>
                  <a:srgbClr val="000000"/>
                </a:solidFill>
                <a:latin typeface="Open Sauce"/>
                <a:ea typeface="Open Sauce"/>
                <a:cs typeface="Open Sauce"/>
                <a:sym typeface="Open Sauce"/>
              </a:rPr>
              <a:t>llu</a:t>
            </a:r>
            <a:r>
              <a:rPr lang="en-US" sz="2400" u="none" strike="noStrike">
                <a:solidFill>
                  <a:srgbClr val="000000"/>
                </a:solidFill>
                <a:latin typeface="Open Sauce"/>
                <a:ea typeface="Open Sauce"/>
                <a:cs typeface="Open Sauce"/>
                <a:sym typeface="Open Sauce"/>
              </a:rPr>
              <a:t>strates the main relati</a:t>
            </a:r>
            <a:r>
              <a:rPr lang="en-US" sz="2400" strike="noStrike">
                <a:solidFill>
                  <a:srgbClr val="000000"/>
                </a:solidFill>
                <a:latin typeface="Open Sauce"/>
                <a:ea typeface="Open Sauce"/>
                <a:cs typeface="Open Sauce"/>
                <a:sym typeface="Open Sauce"/>
              </a:rPr>
              <a:t>o</a:t>
            </a:r>
            <a:r>
              <a:rPr lang="en-US" sz="2400" u="none" strike="noStrike">
                <a:solidFill>
                  <a:srgbClr val="000000"/>
                </a:solidFill>
                <a:latin typeface="Open Sauce"/>
                <a:ea typeface="Open Sauce"/>
                <a:cs typeface="Open Sauce"/>
                <a:sym typeface="Open Sauce"/>
              </a:rPr>
              <a:t>n</a:t>
            </a:r>
            <a:r>
              <a:rPr lang="en-US" sz="2400" strike="noStrike">
                <a:solidFill>
                  <a:srgbClr val="000000"/>
                </a:solidFill>
                <a:latin typeface="Open Sauce"/>
                <a:ea typeface="Open Sauce"/>
                <a:cs typeface="Open Sauce"/>
                <a:sym typeface="Open Sauce"/>
              </a:rPr>
              <a:t>ships</a:t>
            </a:r>
            <a:r>
              <a:rPr lang="en-US" sz="2400" u="none" strike="noStrike">
                <a:solidFill>
                  <a:srgbClr val="000000"/>
                </a:solidFill>
                <a:latin typeface="Open Sauce"/>
                <a:ea typeface="Open Sauce"/>
                <a:cs typeface="Open Sauce"/>
                <a:sym typeface="Open Sauce"/>
              </a:rPr>
              <a:t> and constraint</a:t>
            </a:r>
            <a:r>
              <a:rPr lang="en-US" sz="2400" strike="noStrike">
                <a:solidFill>
                  <a:srgbClr val="000000"/>
                </a:solidFill>
                <a:latin typeface="Open Sauce"/>
                <a:ea typeface="Open Sauce"/>
                <a:cs typeface="Open Sauce"/>
                <a:sym typeface="Open Sauce"/>
              </a:rPr>
              <a:t>s</a:t>
            </a:r>
            <a:r>
              <a:rPr lang="en-US" sz="2400" u="none" strike="noStrike">
                <a:solidFill>
                  <a:srgbClr val="000000"/>
                </a:solidFill>
                <a:latin typeface="Open Sauce"/>
                <a:ea typeface="Open Sauce"/>
                <a:cs typeface="Open Sauce"/>
                <a:sym typeface="Open Sauce"/>
              </a:rPr>
              <a:t> in the Clinic Management System. </a:t>
            </a:r>
          </a:p>
          <a:p>
            <a:pPr marL="518160" lvl="1" indent="-259080" algn="l">
              <a:lnSpc>
                <a:spcPts val="6000"/>
              </a:lnSpc>
              <a:buFont typeface="Arial"/>
              <a:buChar char="•"/>
            </a:pPr>
            <a:r>
              <a:rPr lang="en-US" sz="2400" u="none" strike="noStrike">
                <a:solidFill>
                  <a:srgbClr val="000000"/>
                </a:solidFill>
                <a:latin typeface="Open Sauce"/>
                <a:ea typeface="Open Sauce"/>
                <a:cs typeface="Open Sauce"/>
                <a:sym typeface="Open Sauce"/>
              </a:rPr>
              <a:t>Cardinality Ratios: Department to Clinic (1:N), Doctor to Appointment (1:N), and Patient to Appointment (1:N).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Freeform 4"/>
          <p:cNvSpPr/>
          <p:nvPr/>
        </p:nvSpPr>
        <p:spPr>
          <a:xfrm>
            <a:off x="1623946" y="2604790"/>
            <a:ext cx="5965461" cy="1735908"/>
          </a:xfrm>
          <a:custGeom>
            <a:avLst/>
            <a:gdLst/>
            <a:ahLst/>
            <a:cxnLst/>
            <a:rect l="l" t="t" r="r" b="b"/>
            <a:pathLst>
              <a:path w="5965461" h="1735908">
                <a:moveTo>
                  <a:pt x="0" y="0"/>
                </a:moveTo>
                <a:lnTo>
                  <a:pt x="5965461" y="0"/>
                </a:lnTo>
                <a:lnTo>
                  <a:pt x="5965461" y="1735908"/>
                </a:lnTo>
                <a:lnTo>
                  <a:pt x="0" y="1735908"/>
                </a:lnTo>
                <a:lnTo>
                  <a:pt x="0" y="0"/>
                </a:lnTo>
                <a:close/>
              </a:path>
            </a:pathLst>
          </a:custGeom>
          <a:blipFill>
            <a:blip r:embed="rId3"/>
            <a:stretch>
              <a:fillRect/>
            </a:stretch>
          </a:blipFill>
        </p:spPr>
      </p:sp>
      <p:sp>
        <p:nvSpPr>
          <p:cNvPr id="5" name="Freeform 5"/>
          <p:cNvSpPr/>
          <p:nvPr/>
        </p:nvSpPr>
        <p:spPr>
          <a:xfrm>
            <a:off x="9727199" y="2604790"/>
            <a:ext cx="5567794" cy="7275251"/>
          </a:xfrm>
          <a:custGeom>
            <a:avLst/>
            <a:gdLst/>
            <a:ahLst/>
            <a:cxnLst/>
            <a:rect l="l" t="t" r="r" b="b"/>
            <a:pathLst>
              <a:path w="5567794" h="7275251">
                <a:moveTo>
                  <a:pt x="0" y="0"/>
                </a:moveTo>
                <a:lnTo>
                  <a:pt x="5567795" y="0"/>
                </a:lnTo>
                <a:lnTo>
                  <a:pt x="5567795" y="7275251"/>
                </a:lnTo>
                <a:lnTo>
                  <a:pt x="0" y="7275251"/>
                </a:lnTo>
                <a:lnTo>
                  <a:pt x="0" y="0"/>
                </a:lnTo>
                <a:close/>
              </a:path>
            </a:pathLst>
          </a:custGeom>
          <a:blipFill>
            <a:blip r:embed="rId4"/>
            <a:stretch>
              <a:fillRect/>
            </a:stretch>
          </a:blipFill>
        </p:spPr>
      </p:sp>
      <p:sp>
        <p:nvSpPr>
          <p:cNvPr id="6" name="Freeform 6"/>
          <p:cNvSpPr/>
          <p:nvPr/>
        </p:nvSpPr>
        <p:spPr>
          <a:xfrm>
            <a:off x="3966658" y="5741087"/>
            <a:ext cx="5177342" cy="3246807"/>
          </a:xfrm>
          <a:custGeom>
            <a:avLst/>
            <a:gdLst/>
            <a:ahLst/>
            <a:cxnLst/>
            <a:rect l="l" t="t" r="r" b="b"/>
            <a:pathLst>
              <a:path w="5177342" h="3246807">
                <a:moveTo>
                  <a:pt x="0" y="0"/>
                </a:moveTo>
                <a:lnTo>
                  <a:pt x="5177342" y="0"/>
                </a:lnTo>
                <a:lnTo>
                  <a:pt x="5177342" y="3246808"/>
                </a:lnTo>
                <a:lnTo>
                  <a:pt x="0" y="3246808"/>
                </a:lnTo>
                <a:lnTo>
                  <a:pt x="0" y="0"/>
                </a:lnTo>
                <a:close/>
              </a:path>
            </a:pathLst>
          </a:custGeom>
          <a:blipFill>
            <a:blip r:embed="rId5"/>
            <a:stretch>
              <a:fillRect/>
            </a:stretch>
          </a:blipFill>
        </p:spPr>
      </p:sp>
      <p:sp>
        <p:nvSpPr>
          <p:cNvPr id="7" name="Freeform 7"/>
          <p:cNvSpPr/>
          <p:nvPr/>
        </p:nvSpPr>
        <p:spPr>
          <a:xfrm>
            <a:off x="879599" y="2604790"/>
            <a:ext cx="573600" cy="573600"/>
          </a:xfrm>
          <a:custGeom>
            <a:avLst/>
            <a:gdLst/>
            <a:ahLst/>
            <a:cxnLst/>
            <a:rect l="l" t="t" r="r" b="b"/>
            <a:pathLst>
              <a:path w="573600" h="573600">
                <a:moveTo>
                  <a:pt x="0" y="0"/>
                </a:moveTo>
                <a:lnTo>
                  <a:pt x="573599" y="0"/>
                </a:lnTo>
                <a:lnTo>
                  <a:pt x="573599" y="573600"/>
                </a:lnTo>
                <a:lnTo>
                  <a:pt x="0" y="57360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Freeform 8"/>
          <p:cNvSpPr/>
          <p:nvPr/>
        </p:nvSpPr>
        <p:spPr>
          <a:xfrm>
            <a:off x="8724728" y="4569900"/>
            <a:ext cx="573600" cy="573600"/>
          </a:xfrm>
          <a:custGeom>
            <a:avLst/>
            <a:gdLst/>
            <a:ahLst/>
            <a:cxnLst/>
            <a:rect l="l" t="t" r="r" b="b"/>
            <a:pathLst>
              <a:path w="573600" h="573600">
                <a:moveTo>
                  <a:pt x="0" y="0"/>
                </a:moveTo>
                <a:lnTo>
                  <a:pt x="573600" y="0"/>
                </a:lnTo>
                <a:lnTo>
                  <a:pt x="573600" y="573600"/>
                </a:lnTo>
                <a:lnTo>
                  <a:pt x="0" y="57360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1166399" y="1233825"/>
            <a:ext cx="17121601"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Testing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Freeform 4"/>
          <p:cNvSpPr/>
          <p:nvPr/>
        </p:nvSpPr>
        <p:spPr>
          <a:xfrm>
            <a:off x="8724728" y="4569900"/>
            <a:ext cx="573600" cy="573600"/>
          </a:xfrm>
          <a:custGeom>
            <a:avLst/>
            <a:gdLst/>
            <a:ahLst/>
            <a:cxnLst/>
            <a:rect l="l" t="t" r="r" b="b"/>
            <a:pathLst>
              <a:path w="573600" h="573600">
                <a:moveTo>
                  <a:pt x="0" y="0"/>
                </a:moveTo>
                <a:lnTo>
                  <a:pt x="573600" y="0"/>
                </a:lnTo>
                <a:lnTo>
                  <a:pt x="573600" y="573600"/>
                </a:lnTo>
                <a:lnTo>
                  <a:pt x="0" y="5736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96711" y="2604790"/>
            <a:ext cx="5039528" cy="7290456"/>
          </a:xfrm>
          <a:custGeom>
            <a:avLst/>
            <a:gdLst/>
            <a:ahLst/>
            <a:cxnLst/>
            <a:rect l="l" t="t" r="r" b="b"/>
            <a:pathLst>
              <a:path w="5039528" h="7290456">
                <a:moveTo>
                  <a:pt x="0" y="0"/>
                </a:moveTo>
                <a:lnTo>
                  <a:pt x="5039528" y="0"/>
                </a:lnTo>
                <a:lnTo>
                  <a:pt x="5039528" y="7290456"/>
                </a:lnTo>
                <a:lnTo>
                  <a:pt x="0" y="7290456"/>
                </a:lnTo>
                <a:lnTo>
                  <a:pt x="0" y="0"/>
                </a:lnTo>
                <a:close/>
              </a:path>
            </a:pathLst>
          </a:custGeom>
          <a:blipFill>
            <a:blip r:embed="rId4"/>
            <a:stretch>
              <a:fillRect/>
            </a:stretch>
          </a:blipFill>
        </p:spPr>
      </p:sp>
      <p:sp>
        <p:nvSpPr>
          <p:cNvPr id="6" name="Freeform 6"/>
          <p:cNvSpPr/>
          <p:nvPr/>
        </p:nvSpPr>
        <p:spPr>
          <a:xfrm>
            <a:off x="879599" y="2604790"/>
            <a:ext cx="573600" cy="573600"/>
          </a:xfrm>
          <a:custGeom>
            <a:avLst/>
            <a:gdLst/>
            <a:ahLst/>
            <a:cxnLst/>
            <a:rect l="l" t="t" r="r" b="b"/>
            <a:pathLst>
              <a:path w="573600" h="573600">
                <a:moveTo>
                  <a:pt x="0" y="0"/>
                </a:moveTo>
                <a:lnTo>
                  <a:pt x="573599" y="0"/>
                </a:lnTo>
                <a:lnTo>
                  <a:pt x="573599" y="573600"/>
                </a:lnTo>
                <a:lnTo>
                  <a:pt x="0" y="5736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a:off x="7352714" y="2604790"/>
            <a:ext cx="7533123" cy="5807473"/>
          </a:xfrm>
          <a:custGeom>
            <a:avLst/>
            <a:gdLst/>
            <a:ahLst/>
            <a:cxnLst/>
            <a:rect l="l" t="t" r="r" b="b"/>
            <a:pathLst>
              <a:path w="7533123" h="5807473">
                <a:moveTo>
                  <a:pt x="0" y="0"/>
                </a:moveTo>
                <a:lnTo>
                  <a:pt x="7533123" y="0"/>
                </a:lnTo>
                <a:lnTo>
                  <a:pt x="7533123" y="5807473"/>
                </a:lnTo>
                <a:lnTo>
                  <a:pt x="0" y="5807473"/>
                </a:lnTo>
                <a:lnTo>
                  <a:pt x="0" y="0"/>
                </a:lnTo>
                <a:close/>
              </a:path>
            </a:pathLst>
          </a:custGeom>
          <a:blipFill>
            <a:blip r:embed="rId6"/>
            <a:stretch>
              <a:fillRect/>
            </a:stretch>
          </a:blipFill>
        </p:spPr>
      </p:sp>
      <p:sp>
        <p:nvSpPr>
          <p:cNvPr id="8" name="TextBox 8"/>
          <p:cNvSpPr txBox="1"/>
          <p:nvPr/>
        </p:nvSpPr>
        <p:spPr>
          <a:xfrm>
            <a:off x="1166399" y="1233825"/>
            <a:ext cx="17121601"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Testing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TextBox 4"/>
          <p:cNvSpPr txBox="1"/>
          <p:nvPr/>
        </p:nvSpPr>
        <p:spPr>
          <a:xfrm>
            <a:off x="1166399" y="1233825"/>
            <a:ext cx="17121601"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Testing</a:t>
            </a:r>
          </a:p>
        </p:txBody>
      </p:sp>
      <p:sp>
        <p:nvSpPr>
          <p:cNvPr id="5" name="Freeform 5"/>
          <p:cNvSpPr/>
          <p:nvPr/>
        </p:nvSpPr>
        <p:spPr>
          <a:xfrm>
            <a:off x="5613628" y="2319040"/>
            <a:ext cx="573600" cy="573600"/>
          </a:xfrm>
          <a:custGeom>
            <a:avLst/>
            <a:gdLst/>
            <a:ahLst/>
            <a:cxnLst/>
            <a:rect l="l" t="t" r="r" b="b"/>
            <a:pathLst>
              <a:path w="573600" h="573600">
                <a:moveTo>
                  <a:pt x="0" y="0"/>
                </a:moveTo>
                <a:lnTo>
                  <a:pt x="573600" y="0"/>
                </a:lnTo>
                <a:lnTo>
                  <a:pt x="573600" y="573600"/>
                </a:lnTo>
                <a:lnTo>
                  <a:pt x="0" y="5736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6400393" y="2319040"/>
            <a:ext cx="5487215" cy="7704792"/>
          </a:xfrm>
          <a:custGeom>
            <a:avLst/>
            <a:gdLst/>
            <a:ahLst/>
            <a:cxnLst/>
            <a:rect l="l" t="t" r="r" b="b"/>
            <a:pathLst>
              <a:path w="5487215" h="7704792">
                <a:moveTo>
                  <a:pt x="0" y="0"/>
                </a:moveTo>
                <a:lnTo>
                  <a:pt x="5487214" y="0"/>
                </a:lnTo>
                <a:lnTo>
                  <a:pt x="5487214" y="7704792"/>
                </a:lnTo>
                <a:lnTo>
                  <a:pt x="0" y="7704792"/>
                </a:lnTo>
                <a:lnTo>
                  <a:pt x="0" y="0"/>
                </a:lnTo>
                <a:close/>
              </a:path>
            </a:pathLst>
          </a:custGeom>
          <a:blipFill>
            <a:blip r:embed="rId4"/>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Freeform 4"/>
          <p:cNvSpPr/>
          <p:nvPr/>
        </p:nvSpPr>
        <p:spPr>
          <a:xfrm>
            <a:off x="7524429" y="6370793"/>
            <a:ext cx="8411516" cy="2758542"/>
          </a:xfrm>
          <a:custGeom>
            <a:avLst/>
            <a:gdLst/>
            <a:ahLst/>
            <a:cxnLst/>
            <a:rect l="l" t="t" r="r" b="b"/>
            <a:pathLst>
              <a:path w="8411516" h="2758542">
                <a:moveTo>
                  <a:pt x="0" y="0"/>
                </a:moveTo>
                <a:lnTo>
                  <a:pt x="8411516" y="0"/>
                </a:lnTo>
                <a:lnTo>
                  <a:pt x="8411516" y="2758542"/>
                </a:lnTo>
                <a:lnTo>
                  <a:pt x="0" y="2758542"/>
                </a:lnTo>
                <a:lnTo>
                  <a:pt x="0" y="0"/>
                </a:lnTo>
                <a:close/>
              </a:path>
            </a:pathLst>
          </a:custGeom>
          <a:blipFill>
            <a:blip r:embed="rId3"/>
            <a:stretch>
              <a:fillRect/>
            </a:stretch>
          </a:blipFill>
        </p:spPr>
      </p:sp>
      <p:sp>
        <p:nvSpPr>
          <p:cNvPr id="5" name="Freeform 5"/>
          <p:cNvSpPr/>
          <p:nvPr/>
        </p:nvSpPr>
        <p:spPr>
          <a:xfrm>
            <a:off x="9877760" y="2481051"/>
            <a:ext cx="6823757" cy="2796403"/>
          </a:xfrm>
          <a:custGeom>
            <a:avLst/>
            <a:gdLst/>
            <a:ahLst/>
            <a:cxnLst/>
            <a:rect l="l" t="t" r="r" b="b"/>
            <a:pathLst>
              <a:path w="6823757" h="2796403">
                <a:moveTo>
                  <a:pt x="0" y="0"/>
                </a:moveTo>
                <a:lnTo>
                  <a:pt x="6823757" y="0"/>
                </a:lnTo>
                <a:lnTo>
                  <a:pt x="6823757" y="2796402"/>
                </a:lnTo>
                <a:lnTo>
                  <a:pt x="0" y="2796402"/>
                </a:lnTo>
                <a:lnTo>
                  <a:pt x="0" y="0"/>
                </a:lnTo>
                <a:close/>
              </a:path>
            </a:pathLst>
          </a:custGeom>
          <a:blipFill>
            <a:blip r:embed="rId4"/>
            <a:stretch>
              <a:fillRect/>
            </a:stretch>
          </a:blipFill>
        </p:spPr>
      </p:sp>
      <p:sp>
        <p:nvSpPr>
          <p:cNvPr id="6" name="Freeform 6"/>
          <p:cNvSpPr/>
          <p:nvPr/>
        </p:nvSpPr>
        <p:spPr>
          <a:xfrm>
            <a:off x="568683" y="6370793"/>
            <a:ext cx="6663146" cy="2758542"/>
          </a:xfrm>
          <a:custGeom>
            <a:avLst/>
            <a:gdLst/>
            <a:ahLst/>
            <a:cxnLst/>
            <a:rect l="l" t="t" r="r" b="b"/>
            <a:pathLst>
              <a:path w="6663146" h="2758542">
                <a:moveTo>
                  <a:pt x="0" y="0"/>
                </a:moveTo>
                <a:lnTo>
                  <a:pt x="6663146" y="0"/>
                </a:lnTo>
                <a:lnTo>
                  <a:pt x="6663146" y="2758542"/>
                </a:lnTo>
                <a:lnTo>
                  <a:pt x="0" y="2758542"/>
                </a:lnTo>
                <a:lnTo>
                  <a:pt x="0" y="0"/>
                </a:lnTo>
                <a:close/>
              </a:path>
            </a:pathLst>
          </a:custGeom>
          <a:blipFill>
            <a:blip r:embed="rId5"/>
            <a:stretch>
              <a:fillRect/>
            </a:stretch>
          </a:blipFill>
        </p:spPr>
      </p:sp>
      <p:sp>
        <p:nvSpPr>
          <p:cNvPr id="7" name="Freeform 7"/>
          <p:cNvSpPr/>
          <p:nvPr/>
        </p:nvSpPr>
        <p:spPr>
          <a:xfrm>
            <a:off x="3938720" y="2481051"/>
            <a:ext cx="5472959" cy="2796403"/>
          </a:xfrm>
          <a:custGeom>
            <a:avLst/>
            <a:gdLst/>
            <a:ahLst/>
            <a:cxnLst/>
            <a:rect l="l" t="t" r="r" b="b"/>
            <a:pathLst>
              <a:path w="5472959" h="2796403">
                <a:moveTo>
                  <a:pt x="0" y="0"/>
                </a:moveTo>
                <a:lnTo>
                  <a:pt x="5472959" y="0"/>
                </a:lnTo>
                <a:lnTo>
                  <a:pt x="5472959" y="2796402"/>
                </a:lnTo>
                <a:lnTo>
                  <a:pt x="0" y="2796402"/>
                </a:lnTo>
                <a:lnTo>
                  <a:pt x="0" y="0"/>
                </a:lnTo>
                <a:close/>
              </a:path>
            </a:pathLst>
          </a:custGeom>
          <a:blipFill>
            <a:blip r:embed="rId6"/>
            <a:stretch>
              <a:fillRect/>
            </a:stretch>
          </a:blipFill>
        </p:spPr>
      </p:sp>
      <p:sp>
        <p:nvSpPr>
          <p:cNvPr id="8" name="Freeform 8"/>
          <p:cNvSpPr/>
          <p:nvPr/>
        </p:nvSpPr>
        <p:spPr>
          <a:xfrm>
            <a:off x="568683" y="2481051"/>
            <a:ext cx="2903956" cy="2796403"/>
          </a:xfrm>
          <a:custGeom>
            <a:avLst/>
            <a:gdLst/>
            <a:ahLst/>
            <a:cxnLst/>
            <a:rect l="l" t="t" r="r" b="b"/>
            <a:pathLst>
              <a:path w="2903956" h="2796403">
                <a:moveTo>
                  <a:pt x="0" y="0"/>
                </a:moveTo>
                <a:lnTo>
                  <a:pt x="2903956" y="0"/>
                </a:lnTo>
                <a:lnTo>
                  <a:pt x="2903956" y="2796402"/>
                </a:lnTo>
                <a:lnTo>
                  <a:pt x="0" y="2796402"/>
                </a:lnTo>
                <a:lnTo>
                  <a:pt x="0" y="0"/>
                </a:lnTo>
                <a:close/>
              </a:path>
            </a:pathLst>
          </a:custGeom>
          <a:blipFill>
            <a:blip r:embed="rId7"/>
            <a:stretch>
              <a:fillRect/>
            </a:stretch>
          </a:blipFill>
        </p:spPr>
      </p:sp>
      <p:sp>
        <p:nvSpPr>
          <p:cNvPr id="9" name="TextBox 9"/>
          <p:cNvSpPr txBox="1"/>
          <p:nvPr/>
        </p:nvSpPr>
        <p:spPr>
          <a:xfrm>
            <a:off x="1166399" y="1233825"/>
            <a:ext cx="17121601"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Results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Freeform 4"/>
          <p:cNvSpPr/>
          <p:nvPr/>
        </p:nvSpPr>
        <p:spPr>
          <a:xfrm>
            <a:off x="3790650" y="3178390"/>
            <a:ext cx="10706700" cy="6798426"/>
          </a:xfrm>
          <a:custGeom>
            <a:avLst/>
            <a:gdLst/>
            <a:ahLst/>
            <a:cxnLst/>
            <a:rect l="l" t="t" r="r" b="b"/>
            <a:pathLst>
              <a:path w="10706700" h="6798426">
                <a:moveTo>
                  <a:pt x="0" y="0"/>
                </a:moveTo>
                <a:lnTo>
                  <a:pt x="10706700" y="0"/>
                </a:lnTo>
                <a:lnTo>
                  <a:pt x="10706700" y="6798426"/>
                </a:lnTo>
                <a:lnTo>
                  <a:pt x="0" y="6798426"/>
                </a:lnTo>
                <a:lnTo>
                  <a:pt x="0" y="0"/>
                </a:lnTo>
                <a:close/>
              </a:path>
            </a:pathLst>
          </a:custGeom>
          <a:blipFill>
            <a:blip r:embed="rId3"/>
            <a:stretch>
              <a:fillRect/>
            </a:stretch>
          </a:blipFill>
        </p:spPr>
      </p:sp>
      <p:sp>
        <p:nvSpPr>
          <p:cNvPr id="5" name="TextBox 5"/>
          <p:cNvSpPr txBox="1"/>
          <p:nvPr/>
        </p:nvSpPr>
        <p:spPr>
          <a:xfrm>
            <a:off x="1166399" y="1233825"/>
            <a:ext cx="17121601"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Questions</a:t>
            </a:r>
          </a:p>
        </p:txBody>
      </p:sp>
      <p:sp>
        <p:nvSpPr>
          <p:cNvPr id="6" name="TextBox 6"/>
          <p:cNvSpPr txBox="1"/>
          <p:nvPr/>
        </p:nvSpPr>
        <p:spPr>
          <a:xfrm>
            <a:off x="2068934" y="2166569"/>
            <a:ext cx="14150132" cy="670560"/>
          </a:xfrm>
          <a:prstGeom prst="rect">
            <a:avLst/>
          </a:prstGeom>
        </p:spPr>
        <p:txBody>
          <a:bodyPr lIns="0" tIns="0" rIns="0" bIns="0" rtlCol="0" anchor="t">
            <a:spAutoFit/>
          </a:bodyPr>
          <a:lstStyle/>
          <a:p>
            <a:pPr marL="0" lvl="1" indent="0" algn="l">
              <a:lnSpc>
                <a:spcPts val="6000"/>
              </a:lnSpc>
              <a:spcBef>
                <a:spcPct val="0"/>
              </a:spcBef>
            </a:pPr>
            <a:r>
              <a:rPr lang="en-US" sz="2400" b="1" u="none" strike="noStrike">
                <a:solidFill>
                  <a:srgbClr val="000000"/>
                </a:solidFill>
                <a:latin typeface="Open Sauce Bold"/>
                <a:ea typeface="Open Sauce Bold"/>
                <a:cs typeface="Open Sauce Bold"/>
                <a:sym typeface="Open Sauce Bold"/>
              </a:rPr>
              <a:t>Question 1: How would you prevent two appointments for the same doctor from overlapping?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Freeform 4"/>
          <p:cNvSpPr/>
          <p:nvPr/>
        </p:nvSpPr>
        <p:spPr>
          <a:xfrm>
            <a:off x="559449" y="5559861"/>
            <a:ext cx="9167750" cy="3391657"/>
          </a:xfrm>
          <a:custGeom>
            <a:avLst/>
            <a:gdLst/>
            <a:ahLst/>
            <a:cxnLst/>
            <a:rect l="l" t="t" r="r" b="b"/>
            <a:pathLst>
              <a:path w="9167750" h="3391657">
                <a:moveTo>
                  <a:pt x="0" y="0"/>
                </a:moveTo>
                <a:lnTo>
                  <a:pt x="9167750" y="0"/>
                </a:lnTo>
                <a:lnTo>
                  <a:pt x="9167750" y="3391656"/>
                </a:lnTo>
                <a:lnTo>
                  <a:pt x="0" y="3391656"/>
                </a:lnTo>
                <a:lnTo>
                  <a:pt x="0" y="0"/>
                </a:lnTo>
                <a:close/>
              </a:path>
            </a:pathLst>
          </a:custGeom>
          <a:blipFill>
            <a:blip r:embed="rId3"/>
            <a:stretch>
              <a:fillRect/>
            </a:stretch>
          </a:blipFill>
        </p:spPr>
      </p:sp>
      <p:sp>
        <p:nvSpPr>
          <p:cNvPr id="5" name="Freeform 5"/>
          <p:cNvSpPr/>
          <p:nvPr/>
        </p:nvSpPr>
        <p:spPr>
          <a:xfrm>
            <a:off x="12005010" y="5559861"/>
            <a:ext cx="5772668" cy="3391657"/>
          </a:xfrm>
          <a:custGeom>
            <a:avLst/>
            <a:gdLst/>
            <a:ahLst/>
            <a:cxnLst/>
            <a:rect l="l" t="t" r="r" b="b"/>
            <a:pathLst>
              <a:path w="5772668" h="3391657">
                <a:moveTo>
                  <a:pt x="0" y="0"/>
                </a:moveTo>
                <a:lnTo>
                  <a:pt x="5772668" y="0"/>
                </a:lnTo>
                <a:lnTo>
                  <a:pt x="5772668" y="3391656"/>
                </a:lnTo>
                <a:lnTo>
                  <a:pt x="0" y="3391656"/>
                </a:lnTo>
                <a:lnTo>
                  <a:pt x="0" y="0"/>
                </a:lnTo>
                <a:close/>
              </a:path>
            </a:pathLst>
          </a:custGeom>
          <a:blipFill>
            <a:blip r:embed="rId4"/>
            <a:stretch>
              <a:fillRect/>
            </a:stretch>
          </a:blipFill>
        </p:spPr>
      </p:sp>
      <p:sp>
        <p:nvSpPr>
          <p:cNvPr id="6" name="TextBox 6"/>
          <p:cNvSpPr txBox="1"/>
          <p:nvPr/>
        </p:nvSpPr>
        <p:spPr>
          <a:xfrm>
            <a:off x="1166399" y="1233825"/>
            <a:ext cx="17121601"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Questions</a:t>
            </a:r>
          </a:p>
        </p:txBody>
      </p:sp>
      <p:sp>
        <p:nvSpPr>
          <p:cNvPr id="7" name="TextBox 7"/>
          <p:cNvSpPr txBox="1"/>
          <p:nvPr/>
        </p:nvSpPr>
        <p:spPr>
          <a:xfrm>
            <a:off x="1613297" y="2139885"/>
            <a:ext cx="15061406" cy="670560"/>
          </a:xfrm>
          <a:prstGeom prst="rect">
            <a:avLst/>
          </a:prstGeom>
        </p:spPr>
        <p:txBody>
          <a:bodyPr lIns="0" tIns="0" rIns="0" bIns="0" rtlCol="0" anchor="t">
            <a:spAutoFit/>
          </a:bodyPr>
          <a:lstStyle/>
          <a:p>
            <a:pPr marL="0" lvl="1" indent="0" algn="l">
              <a:lnSpc>
                <a:spcPts val="6000"/>
              </a:lnSpc>
              <a:spcBef>
                <a:spcPct val="0"/>
              </a:spcBef>
            </a:pPr>
            <a:r>
              <a:rPr lang="en-US" sz="2400" b="1">
                <a:solidFill>
                  <a:srgbClr val="000000"/>
                </a:solidFill>
                <a:latin typeface="Open Sauce Bold"/>
                <a:ea typeface="Open Sauce Bold"/>
                <a:cs typeface="Open Sauce Bold"/>
                <a:sym typeface="Open Sauce Bold"/>
              </a:rPr>
              <a:t>Question 2: D</a:t>
            </a:r>
            <a:r>
              <a:rPr lang="en-US" sz="2400" b="1" u="none" strike="noStrike">
                <a:solidFill>
                  <a:srgbClr val="000000"/>
                </a:solidFill>
                <a:latin typeface="Open Sauce Bold"/>
                <a:ea typeface="Open Sauce Bold"/>
                <a:cs typeface="Open Sauce Bold"/>
                <a:sym typeface="Open Sauce Bold"/>
              </a:rPr>
              <a:t>escribe a query to fetch each patient's name plus their most recent appointment date </a:t>
            </a:r>
          </a:p>
        </p:txBody>
      </p:sp>
      <p:sp>
        <p:nvSpPr>
          <p:cNvPr id="8" name="TextBox 8"/>
          <p:cNvSpPr txBox="1"/>
          <p:nvPr/>
        </p:nvSpPr>
        <p:spPr>
          <a:xfrm>
            <a:off x="2237067" y="2802917"/>
            <a:ext cx="13813865" cy="2194560"/>
          </a:xfrm>
          <a:prstGeom prst="rect">
            <a:avLst/>
          </a:prstGeom>
        </p:spPr>
        <p:txBody>
          <a:bodyPr lIns="0" tIns="0" rIns="0" bIns="0" rtlCol="0" anchor="t">
            <a:spAutoFit/>
          </a:bodyPr>
          <a:lstStyle/>
          <a:p>
            <a:pPr marL="0" lvl="1" indent="0" algn="l">
              <a:lnSpc>
                <a:spcPts val="6000"/>
              </a:lnSpc>
              <a:spcBef>
                <a:spcPct val="0"/>
              </a:spcBef>
            </a:pPr>
            <a:r>
              <a:rPr lang="en-US" sz="2400">
                <a:solidFill>
                  <a:srgbClr val="000000"/>
                </a:solidFill>
                <a:latin typeface="Open Sauce"/>
                <a:ea typeface="Open Sauce"/>
                <a:cs typeface="Open Sauce"/>
                <a:sym typeface="Open Sauce"/>
              </a:rPr>
              <a:t>This requires a l</a:t>
            </a:r>
            <a:r>
              <a:rPr lang="en-US" sz="2400" u="none" strike="noStrike">
                <a:solidFill>
                  <a:srgbClr val="000000"/>
                </a:solidFill>
                <a:latin typeface="Open Sauce"/>
                <a:ea typeface="Open Sauce"/>
                <a:cs typeface="Open Sauce"/>
                <a:sym typeface="Open Sauce"/>
              </a:rPr>
              <a:t>eft join between Patient and Appointment so that patients that have no appointments are still included. Then max(a.Date) finds the latest appointment, and group by the patient's ID and name to combine multiple rows into one per patient. </a:t>
            </a:r>
          </a:p>
        </p:txBody>
      </p:sp>
      <p:sp>
        <p:nvSpPr>
          <p:cNvPr id="9" name="AutoShape 9"/>
          <p:cNvSpPr/>
          <p:nvPr/>
        </p:nvSpPr>
        <p:spPr>
          <a:xfrm>
            <a:off x="10036853" y="7236639"/>
            <a:ext cx="1658504" cy="0"/>
          </a:xfrm>
          <a:prstGeom prst="line">
            <a:avLst/>
          </a:prstGeom>
          <a:ln w="38100" cap="flat">
            <a:solidFill>
              <a:srgbClr val="000000"/>
            </a:solidFill>
            <a:prstDash val="solid"/>
            <a:headEnd type="none" w="sm" len="sm"/>
            <a:tailEnd type="triangle" w="lg" len="me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Freeform 4"/>
          <p:cNvSpPr/>
          <p:nvPr/>
        </p:nvSpPr>
        <p:spPr>
          <a:xfrm>
            <a:off x="1676800" y="4779946"/>
            <a:ext cx="5649018" cy="2619090"/>
          </a:xfrm>
          <a:custGeom>
            <a:avLst/>
            <a:gdLst/>
            <a:ahLst/>
            <a:cxnLst/>
            <a:rect l="l" t="t" r="r" b="b"/>
            <a:pathLst>
              <a:path w="5649018" h="2619090">
                <a:moveTo>
                  <a:pt x="0" y="0"/>
                </a:moveTo>
                <a:lnTo>
                  <a:pt x="5649019" y="0"/>
                </a:lnTo>
                <a:lnTo>
                  <a:pt x="5649019" y="2619090"/>
                </a:lnTo>
                <a:lnTo>
                  <a:pt x="0" y="2619090"/>
                </a:lnTo>
                <a:lnTo>
                  <a:pt x="0" y="0"/>
                </a:lnTo>
                <a:close/>
              </a:path>
            </a:pathLst>
          </a:custGeom>
          <a:blipFill>
            <a:blip r:embed="rId3"/>
            <a:stretch>
              <a:fillRect/>
            </a:stretch>
          </a:blipFill>
        </p:spPr>
      </p:sp>
      <p:sp>
        <p:nvSpPr>
          <p:cNvPr id="5" name="Freeform 5"/>
          <p:cNvSpPr/>
          <p:nvPr/>
        </p:nvSpPr>
        <p:spPr>
          <a:xfrm>
            <a:off x="12077701" y="4779946"/>
            <a:ext cx="3847633" cy="2619090"/>
          </a:xfrm>
          <a:custGeom>
            <a:avLst/>
            <a:gdLst/>
            <a:ahLst/>
            <a:cxnLst/>
            <a:rect l="l" t="t" r="r" b="b"/>
            <a:pathLst>
              <a:path w="3847633" h="2619090">
                <a:moveTo>
                  <a:pt x="0" y="0"/>
                </a:moveTo>
                <a:lnTo>
                  <a:pt x="3847633" y="0"/>
                </a:lnTo>
                <a:lnTo>
                  <a:pt x="3847633" y="2619090"/>
                </a:lnTo>
                <a:lnTo>
                  <a:pt x="0" y="2619090"/>
                </a:lnTo>
                <a:lnTo>
                  <a:pt x="0" y="0"/>
                </a:lnTo>
                <a:close/>
              </a:path>
            </a:pathLst>
          </a:custGeom>
          <a:blipFill>
            <a:blip r:embed="rId4"/>
            <a:stretch>
              <a:fillRect/>
            </a:stretch>
          </a:blipFill>
        </p:spPr>
      </p:sp>
      <p:sp>
        <p:nvSpPr>
          <p:cNvPr id="6" name="TextBox 6"/>
          <p:cNvSpPr txBox="1"/>
          <p:nvPr/>
        </p:nvSpPr>
        <p:spPr>
          <a:xfrm>
            <a:off x="1166399" y="1233825"/>
            <a:ext cx="17121601"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Questions</a:t>
            </a:r>
          </a:p>
        </p:txBody>
      </p:sp>
      <p:sp>
        <p:nvSpPr>
          <p:cNvPr id="7" name="TextBox 7"/>
          <p:cNvSpPr txBox="1"/>
          <p:nvPr/>
        </p:nvSpPr>
        <p:spPr>
          <a:xfrm>
            <a:off x="2068934" y="2166569"/>
            <a:ext cx="15190366" cy="1432560"/>
          </a:xfrm>
          <a:prstGeom prst="rect">
            <a:avLst/>
          </a:prstGeom>
        </p:spPr>
        <p:txBody>
          <a:bodyPr lIns="0" tIns="0" rIns="0" bIns="0" rtlCol="0" anchor="t">
            <a:spAutoFit/>
          </a:bodyPr>
          <a:lstStyle/>
          <a:p>
            <a:pPr marL="0" lvl="1" indent="0" algn="ctr">
              <a:lnSpc>
                <a:spcPts val="6000"/>
              </a:lnSpc>
              <a:spcBef>
                <a:spcPct val="0"/>
              </a:spcBef>
            </a:pPr>
            <a:r>
              <a:rPr lang="en-US" sz="2400" b="1" u="none" strike="noStrike">
                <a:solidFill>
                  <a:srgbClr val="000000"/>
                </a:solidFill>
                <a:latin typeface="Open Sauce Bold"/>
                <a:ea typeface="Open Sauce Bold"/>
                <a:cs typeface="Open Sauce Bold"/>
                <a:sym typeface="Open Sauce Bold"/>
              </a:rPr>
              <a:t>Question 3: A view showing each doctor's upcoming appointment count for next month. What would its GROUP BY look like? </a:t>
            </a:r>
          </a:p>
        </p:txBody>
      </p:sp>
      <p:sp>
        <p:nvSpPr>
          <p:cNvPr id="8" name="AutoShape 8"/>
          <p:cNvSpPr/>
          <p:nvPr/>
        </p:nvSpPr>
        <p:spPr>
          <a:xfrm flipV="1">
            <a:off x="7859286" y="6070441"/>
            <a:ext cx="3526417" cy="19050"/>
          </a:xfrm>
          <a:prstGeom prst="line">
            <a:avLst/>
          </a:prstGeom>
          <a:ln w="38100" cap="flat">
            <a:solidFill>
              <a:srgbClr val="000000"/>
            </a:solidFill>
            <a:prstDash val="solid"/>
            <a:headEnd type="none" w="sm" len="sm"/>
            <a:tailEnd type="triangle" w="lg" len="me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TextBox 3"/>
          <p:cNvSpPr txBox="1"/>
          <p:nvPr/>
        </p:nvSpPr>
        <p:spPr>
          <a:xfrm>
            <a:off x="3538527" y="3783330"/>
            <a:ext cx="11210945" cy="2453640"/>
          </a:xfrm>
          <a:prstGeom prst="rect">
            <a:avLst/>
          </a:prstGeom>
        </p:spPr>
        <p:txBody>
          <a:bodyPr lIns="0" tIns="0" rIns="0" bIns="0" rtlCol="0" anchor="t">
            <a:spAutoFit/>
          </a:bodyPr>
          <a:lstStyle/>
          <a:p>
            <a:pPr algn="ctr">
              <a:lnSpc>
                <a:spcPts val="20160"/>
              </a:lnSpc>
            </a:pPr>
            <a:r>
              <a:rPr lang="en-US" sz="14400">
                <a:solidFill>
                  <a:srgbClr val="000000"/>
                </a:solidFill>
                <a:latin typeface="DM Serif Display"/>
                <a:ea typeface="DM Serif Display"/>
                <a:cs typeface="DM Serif Display"/>
                <a:sym typeface="DM Serif Display"/>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 Management System</dc:title>
  <cp:revision>2</cp:revision>
  <dcterms:created xsi:type="dcterms:W3CDTF">2006-08-16T00:00:00Z</dcterms:created>
  <dcterms:modified xsi:type="dcterms:W3CDTF">2026-05-30T15:09:30Z</dcterms:modified>
  <dc:identifier>DAHLJHjK_jo</dc:identifier>
</cp:coreProperties>
</file>